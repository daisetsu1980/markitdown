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spPr>
              <a:solidFill>
                <a:srgbClr val="666666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15A36"/>
              </a:solidFill>
              <a:ln w="254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017C1"/>
              </a:solidFill>
              <a:ln w="25400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800" b="1" lang="ja-JP">
                        <a:solidFill>
                          <a:srgbClr val="1A1A1A"/>
                        </a:solidFill>
                        <a:latin typeface="Noto Sans JP"/>
                        <a:ea typeface="Noto Sans JP"/>
                      </a:rPr>
                      <a:t>遺伝</a:t>
                    </a:r>
                  </a:p>
                  <a:p>
                    <a:r>
                      <a:rPr sz="1800" b="1" lang="ja-JP">
                        <a:solidFill>
                          <a:srgbClr val="1A1A1A"/>
                        </a:solidFill>
                        <a:latin typeface="Noto Sans JP"/>
                        <a:ea typeface="Noto Sans JP"/>
                      </a:rPr>
                      <a:t>約50%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800" b="1" lang="ja-JP">
                        <a:solidFill>
                          <a:srgbClr val="1A1A1A"/>
                        </a:solidFill>
                        <a:latin typeface="Noto Sans JP"/>
                        <a:ea typeface="Noto Sans JP"/>
                      </a:rPr>
                      <a:t>生活の状況</a:t>
                    </a:r>
                  </a:p>
                  <a:p>
                    <a:r>
                      <a:rPr sz="1800" b="1" lang="ja-JP">
                        <a:solidFill>
                          <a:srgbClr val="1A1A1A"/>
                        </a:solidFill>
                        <a:latin typeface="Noto Sans JP"/>
                        <a:ea typeface="Noto Sans JP"/>
                      </a:rPr>
                      <a:t>約10%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800" b="1" lang="ja-JP">
                        <a:solidFill>
                          <a:srgbClr val="1A1A1A"/>
                        </a:solidFill>
                        <a:latin typeface="Noto Sans JP"/>
                        <a:ea typeface="Noto Sans JP"/>
                      </a:rPr>
                      <a:t>意図的な活動</a:t>
                    </a:r>
                  </a:p>
                  <a:p>
                    <a:r>
                      <a:rPr sz="1800" b="1" lang="ja-JP">
                        <a:solidFill>
                          <a:srgbClr val="1A1A1A"/>
                        </a:solidFill>
                        <a:latin typeface="Noto Sans JP"/>
                        <a:ea typeface="Noto Sans JP"/>
                      </a:rPr>
                      <a:t>約40%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遺伝</c:v>
                </c:pt>
                <c:pt idx="1">
                  <c:v>生活の状況</c:v>
                </c:pt>
                <c:pt idx="2">
                  <c:v>意図的な活動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0.1</c:v>
                </c:pt>
                <c:pt idx="2">
                  <c:v>0.4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0分。冒頭に、前回の問い「自分次第か、運か」を思い出してもらう。冒頭の問い（自分次第か、運か）には、この回で答えを出さず、次回の末尾で再投票する。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前回の「私の答え」を一文で確認する。語源の対比は、前回の語源の頁を思い出してもらうだけにとどめる。本日の問いは、「自分の手に取り戻せるのか」を、データと古典の二方向から確かめる、という見通しを添えて読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約2分。以下の三つのデータが「幸福」ではなく「幸福感寄りの指標」であることを、先に断る。SWLS は、人生全体への満足を本人に答えさせる尺度であり、前回の三つの条件のうち、本人の評価（②）しか映さない。実際の活動（①）や活動の価値（③）は、自己報告では確かめられない。出典：Diener, Emmons, Larsen &amp; Griffin (1985), Journal of Personality Assessment（書誌は要確認）。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約4分。模式図は、基準線に対し、良い出来事で上がり、悪い出来事で下がり、時間とともに基準線へ戻る形を示す。実測値ではないことを口頭でも言う。出典：Brickman &amp; Campbell (1971), "Hedonic relativism and planning the good society"（書誌は要確認）。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約4分。1978年の研究が、適応の例としてよく引かれる。のちの研究は、人生満足度については、適応が完全ではないことを示した。1978年の数値（当選者の現在の幸福感 4.00、比較群 3.82、日常の楽しみは当選者 3.33、比較群 3.82）は、尺度の幅を原論文で確かめてから示す。事故の被害者の結果の言い方も、原論文で確かめる。「前回の二つの意味と重なる」は、この回での読み方である（研究の結論ではない）と断る。出典：Brickman, Coates &amp; Janoff-Bulman (1978), Journal of Personality and Social Psychology 36(8)（書誌は要確認）。Lindqvist, Östling &amp; Cesarini (2020), Review of Economic Studies 87(6), 2703–2726。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4分。数字は集団の個人差についてのもので、一人の幸福感の内訳ではない。この点は、後半（割合の読み違い）で扱う。「遺伝率」は、集団の個人差のうち遺伝の差で説明できる割合、と初出で説明する。再測定は4.5年後と10年後（一部の標本）。出典：Lykken &amp; Tellegen (1996), "Happiness is a stochastic phenomenon", Psychological Science 7(3), 186–189。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2分。ここで学生を「親ガチャ」の感覚に引き込み、後半で見直す。暫定の読みであることは、必ず口頭でも言う。この頁の「大きく見える」は、研究の結論ではなく、前の頁の数字から受ける印象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約2分。肖像は、取得元に接続できず、載せていない（利用条件を確かめられる画像が手に入れば差し替える）。生没年と、著作を残さなかった点は、要確認。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約3分。問いかけから入る。次の頁で、プラトンの対話篇『エウテュデモス』の議論を、要旨で読む。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5分。ソクラテスが若者クレイニアスと交わす対話の要旨。原文の語は、知＝ソフィア、幸運＝エウテュキア。要旨は筆者のまとめで、逐語訳ではない。授業で訳文を引く場合は、訳書の頁を確かめて差し替える（要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約2分。「置き換える」の矢印が、この回の主題（取り戻す）に対応する。評価は、ここでは加えない。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約7分（一人3分、隣の人3分、Slido 1分）。回答を見て、次の頁につなぐ。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約3分。ワークで出た「怪しい点」を二、三拾う。答えは出さず、ストア派に進む。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約2分。肖像は、取得元に接続できず、載せていない。生没年と、奴隷の身に生まれた点は、要確認。『提要』の編者は、弟子のアリアノスとされる。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約4分。『提要』第1節の要旨。「自分次第」は、ギリシア語で「われわれ次第」と呼ばれる。訳文を引く場合は、訳書で該当箇所を確かめて差し替える（要確認）。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約3分。「幸福は、自分次第のものを整えることに置く」は、ストア派の答えの要約である。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約3分。二人は、幸福の置き方そのものを動かして不運を避けている。ここでは評価をしない。学生が「この答えは魅力的だ」と感じるところまで進めて、次回に渡す。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4分。エリス、ベックが述べた箇所と刊行年は、授業前に原典で確かめる（要確認）。エピクテトスの「人は、物事ではなく、物事についての考えに乱される」という趣旨の言葉が、よく引かれる（『提要』第5節。要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約5分。この円グラフは、通俗的には「幸福の40%は、自分の努力で変えられる」と紹介されることが多い。次のワークで、その読み方を検証する。割合は、Lyubomirsky et al. (2005), Review of General Psychology の議論による（数値は、論文の記述を確かめて示す）。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約7分（一人3分、隣の人3分、Slido 1分）。回答の分布を見てから、次の頁へ進む。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約4分。Brown &amp; Rohrer (2020), "Easy as (happiness) pie? A critical evaluation of a popular model of the determinants of well-being", Journal of Happiness Studies の批判を要約した。各論点の言い方は、論文で確かめて、授業前に整える（要確認）。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4分。見直す対象は、7頁（ここまでの結論）の「親ガチャ」の読み。身長の例は、遺伝率と変えやすさが別であることを示す標準的な例である（数値は出さない）。双生児研究が示したのは、集団の個人差の説明であり、一人の幸福感が動かないという主張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約3分。ここまでの整理。データが測っているのは幸福感に近い指標であり、幸福（価値ある活動を営むこと）は対象外であることを、もう一度言う。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約5分。説明の途中で、隣の人に「自分は幸福を強く求めているか」と一言だけ聞く（Slido は使わない）。研究は、女性の参加者での結果であり、一般化には注意が要る。出典：Mauss, Tamir, Anderson &amp; Savino (2011), "Can seeking happiness make people unhappy? Paradoxical effects of valuing happiness", Emotion（書誌は要確認）。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約5分。図は、論文の説明（失望が媒介する）の要約である。「基準が高くなる」の部分は、論文の記述を確かめて整える（要確認）。前回の「顔色」の例は、前回の幸福感は徴候、の頁を指す。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約3分。「あとから伴う」は、前回の「幸福感は活動に伴う徴候」に沿った言い方である。この回のデータが直接示したことではない。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5分。迷う項目があってよい。迷った項目を、投票のあとに拾う。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約5分。結果を映し、割れた項目を二、三、取り上げて、理由を聞く。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約5分。冒頭の問い（自分次第か、運か）の再投票は、次回の末尾で行う。今回の投票結果（項目ごとの変えられる・変えられない）を、次回の冒頭で振り返る。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約2分。提出の形式と期限は、授業で伝える。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書誌の巻号・頁・刊行年は記憶と検索による。Brown &amp; Rohrer の頁、Brickman &amp; Campbell の頁、Ellis と Beck の刊行年は、授業前に確かめて補う。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sign.digital.go.jp/dad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1676400"/>
            <a:ext cx="914400" cy="7620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題名"/>
          <p:cNvSpPr txBox="1"/>
          <p:nvPr/>
        </p:nvSpPr>
        <p:spPr>
          <a:xfrm>
            <a:off x="609600" y="1981200"/>
            <a:ext cx="10972800" cy="853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719"/>
              </a:lnSpc>
              <a:spcBef>
                <a:spcPts val="0"/>
              </a:spcBef>
              <a:spcAft>
                <a:spcPts val="0"/>
              </a:spcAft>
            </a:pPr>
            <a:r>
              <a:rPr sz="4800" b="1" lang="ja-JP">
                <a:solidFill>
                  <a:srgbClr val="1A1A1A"/>
                </a:solidFill>
                <a:latin typeface="Noto Sans JP"/>
                <a:ea typeface="Noto Sans JP"/>
              </a:rPr>
              <a:t>幸福を自分の手に取り戻す</a:t>
            </a:r>
          </a:p>
        </p:txBody>
      </p:sp>
      <p:sp>
        <p:nvSpPr>
          <p:cNvPr id="4" name="副題"/>
          <p:cNvSpPr txBox="1"/>
          <p:nvPr/>
        </p:nvSpPr>
        <p:spPr>
          <a:xfrm>
            <a:off x="609600" y="2933700"/>
            <a:ext cx="10972800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ja-JP">
                <a:solidFill>
                  <a:srgbClr val="666666"/>
                </a:solidFill>
                <a:latin typeface="Noto Sans JP"/>
                <a:ea typeface="Noto Sans JP"/>
              </a:rPr>
              <a:t>幸福はどこまで自分で変えられるか</a:t>
            </a:r>
          </a:p>
        </p:txBody>
      </p:sp>
      <p:sp>
        <p:nvSpPr>
          <p:cNvPr id="5" name="注記"/>
          <p:cNvSpPr txBox="1"/>
          <p:nvPr/>
        </p:nvSpPr>
        <p:spPr>
          <a:xfrm>
            <a:off x="609600" y="5715000"/>
            <a:ext cx="109728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人間と哲学　第3回（幸福　第2回）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前回の確認と本日の問い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752600"/>
            <a:ext cx="49530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120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前回の確認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86000"/>
            <a:ext cx="4953000" cy="3562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幸福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自分が価値を認める活動を、人生で実際に行えていること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幸福感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その活動に伴う徴候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三つの条件</a:t>
            </a:r>
          </a:p>
          <a:p>
            <a:pPr algn="l" marL="533400" indent="-20955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–"/>
            </a:pPr>
            <a:r>
              <a:rPr sz="2000" b="0" lang="ja-JP">
                <a:solidFill>
                  <a:srgbClr val="1A1A1A"/>
                </a:solidFill>
                <a:latin typeface="Noto Sans JP"/>
                <a:ea typeface="Noto Sans JP"/>
              </a:rPr>
              <a:t>①実際に活動している</a:t>
            </a:r>
          </a:p>
          <a:p>
            <a:pPr algn="l" marL="533400" indent="-20955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–"/>
            </a:pPr>
            <a:r>
              <a:rPr sz="2000" b="0" lang="ja-JP">
                <a:solidFill>
                  <a:srgbClr val="1A1A1A"/>
                </a:solidFill>
                <a:latin typeface="Noto Sans JP"/>
                <a:ea typeface="Noto Sans JP"/>
              </a:rPr>
              <a:t>②自分が価値を認めている</a:t>
            </a:r>
          </a:p>
          <a:p>
            <a:pPr algn="l" marL="533400" indent="-20955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–"/>
            </a:pPr>
            <a:r>
              <a:rPr sz="2000" b="0" lang="ja-JP">
                <a:solidFill>
                  <a:srgbClr val="1A1A1A"/>
                </a:solidFill>
                <a:latin typeface="Noto Sans JP"/>
                <a:ea typeface="Noto Sans JP"/>
              </a:rPr>
              <a:t>③その活動に実際に価値がある</a:t>
            </a:r>
          </a:p>
        </p:txBody>
      </p:sp>
      <p:sp>
        <p:nvSpPr>
          <p:cNvPr id="6" name="本日の問いの面"/>
          <p:cNvSpPr/>
          <p:nvPr/>
        </p:nvSpPr>
        <p:spPr>
          <a:xfrm>
            <a:off x="6400800" y="1752600"/>
            <a:ext cx="5181600" cy="426974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600" y="2057400"/>
            <a:ext cx="4572000" cy="3660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本日の問い</a:t>
            </a:r>
          </a:p>
          <a:p>
            <a:pPr algn="l">
              <a:lnSpc>
                <a:spcPts val="4480"/>
              </a:lnSpc>
              <a:spcBef>
                <a:spcPts val="0"/>
              </a:spcBef>
              <a:spcAft>
                <a:spcPts val="1500"/>
              </a:spcAft>
            </a:pPr>
            <a:r>
              <a:rPr sz="3200" b="1" lang="ja-JP">
                <a:solidFill>
                  <a:srgbClr val="1A1A1A"/>
                </a:solidFill>
                <a:latin typeface="Noto Sans JP"/>
                <a:ea typeface="Noto Sans JP"/>
              </a:rPr>
              <a:t>幸福は、どこまで自分で変えられるか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45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幸福という語は、もともと人の力の外から授かるものを指していた。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45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いまは、自分の手で手に入れるものと考えることが多い。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データが拾うもの、拾えないもの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752600"/>
            <a:ext cx="109728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これから見るデータは、いずれも本人の自己報告にもとづく。</a:t>
            </a:r>
          </a:p>
        </p:txBody>
      </p:sp>
      <p:graphicFrame>
        <p:nvGraphicFramePr>
          <p:cNvPr id="5" name="データが拾うもの" descr="データが拾うものと拾えないものの対応表"/>
          <p:cNvGraphicFramePr>
            <a:graphicFrameLocks noGrp="1"/>
          </p:cNvGraphicFramePr>
          <p:nvPr/>
        </p:nvGraphicFramePr>
        <p:xfrm>
          <a:off x="609600" y="2400300"/>
          <a:ext cx="1097280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5500"/>
                <a:gridCol w="887730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区分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拾うもの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本人が答える満足度や気分。前回の条件②（本人が価値を認めているか）に近い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拾えないもの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実際にその活動をしているか（条件①）。その活動に実際に価値があるか（条件③）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914900"/>
            <a:ext cx="109728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したがって、以下のデータは、幸福そのものではなく、幸福感に近い指標を測っている。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905500"/>
            <a:ext cx="10972800" cy="24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ja-JP">
                <a:solidFill>
                  <a:srgbClr val="666666"/>
                </a:solidFill>
                <a:latin typeface="Noto Sans JP"/>
                <a:ea typeface="Noto Sans JP"/>
              </a:rPr>
              <a:t>尺度の例：人生満足度尺度（SWLS）　Diener et al. 1985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適応　享楽の踏み車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良いことも悪いことも、時間がたつと慣れて、気分は元の水準に戻りやすい。この傾向は、歩いても同じ場所に戻る踏み車にたとえて、「享楽の踏み車」と呼ばれる。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43000" y="2705100"/>
            <a:ext cx="0" cy="3124200"/>
          </a:xfrm>
          <a:prstGeom prst="line">
            <a:avLst/>
          </a:prstGeom>
          <a:ln w="25400">
            <a:solidFill>
              <a:srgbClr val="66666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143000" y="5829300"/>
            <a:ext cx="10191750" cy="0"/>
          </a:xfrm>
          <a:prstGeom prst="line">
            <a:avLst/>
          </a:prstGeom>
          <a:ln w="25400">
            <a:solidFill>
              <a:srgbClr val="666666"/>
            </a:solidFill>
            <a:tailEnd type="triangle"/>
          </a:ln>
        </p:spPr>
      </p:cxnSp>
      <p:cxnSp>
        <p:nvCxnSpPr>
          <p:cNvPr id="7" name="Connector 6"/>
          <p:cNvCxnSpPr/>
          <p:nvPr/>
        </p:nvCxnSpPr>
        <p:spPr>
          <a:xfrm>
            <a:off x="1143000" y="4267200"/>
            <a:ext cx="10191750" cy="0"/>
          </a:xfrm>
          <a:prstGeom prst="line">
            <a:avLst/>
          </a:prstGeom>
          <a:ln w="19050">
            <a:solidFill>
              <a:srgbClr val="666666"/>
            </a:solidFill>
            <a:prstDash val="dash"/>
          </a:ln>
        </p:spPr>
      </p:cxnSp>
      <p:sp>
        <p:nvSpPr>
          <p:cNvPr id="8" name="TextBox 7"/>
          <p:cNvSpPr txBox="1"/>
          <p:nvPr/>
        </p:nvSpPr>
        <p:spPr>
          <a:xfrm>
            <a:off x="1257300" y="2667000"/>
            <a:ext cx="1143000" cy="243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ja-JP">
                <a:solidFill>
                  <a:srgbClr val="666666"/>
                </a:solidFill>
                <a:latin typeface="Noto Sans JP"/>
                <a:ea typeface="Noto Sans JP"/>
              </a:rPr>
              <a:t>気分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0" y="5562600"/>
            <a:ext cx="666750" cy="243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ja-JP">
                <a:solidFill>
                  <a:srgbClr val="666666"/>
                </a:solidFill>
                <a:latin typeface="Noto Sans JP"/>
                <a:ea typeface="Noto Sans JP"/>
              </a:rPr>
              <a:t>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4000500"/>
            <a:ext cx="1809750" cy="243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ふだんの水準</a:t>
            </a:r>
          </a:p>
        </p:txBody>
      </p:sp>
      <p:sp>
        <p:nvSpPr>
          <p:cNvPr id="11" name="Freeform 10"/>
          <p:cNvSpPr/>
          <p:nvPr/>
        </p:nvSpPr>
        <p:spPr>
          <a:xfrm>
            <a:off x="1333500" y="3048000"/>
            <a:ext cx="4914900" cy="1219200"/>
          </a:xfrm>
          <a:custGeom>
            <a:avLst/>
            <a:gdLst/>
            <a:ahLst/>
            <a:cxnLst/>
            <a:rect l="l" t="t" r="r" b="b"/>
            <a:pathLst>
              <a:path w="4914900" h="1219200">
                <a:moveTo>
                  <a:pt x="0" y="1219200"/>
                </a:moveTo>
                <a:lnTo>
                  <a:pt x="1524000" y="1219200"/>
                </a:lnTo>
                <a:lnTo>
                  <a:pt x="1581150" y="0"/>
                </a:lnTo>
                <a:lnTo>
                  <a:pt x="1714500" y="190604"/>
                </a:lnTo>
                <a:lnTo>
                  <a:pt x="1847850" y="351410"/>
                </a:lnTo>
                <a:lnTo>
                  <a:pt x="1981200" y="487076"/>
                </a:lnTo>
                <a:lnTo>
                  <a:pt x="2114550" y="601533"/>
                </a:lnTo>
                <a:lnTo>
                  <a:pt x="2247900" y="698096"/>
                </a:lnTo>
                <a:lnTo>
                  <a:pt x="2381250" y="779563"/>
                </a:lnTo>
                <a:lnTo>
                  <a:pt x="2514600" y="848293"/>
                </a:lnTo>
                <a:lnTo>
                  <a:pt x="2647950" y="906279"/>
                </a:lnTo>
                <a:lnTo>
                  <a:pt x="2781300" y="955200"/>
                </a:lnTo>
                <a:lnTo>
                  <a:pt x="2914650" y="996472"/>
                </a:lnTo>
                <a:lnTo>
                  <a:pt x="3048000" y="1031292"/>
                </a:lnTo>
                <a:lnTo>
                  <a:pt x="3181350" y="1060669"/>
                </a:lnTo>
                <a:lnTo>
                  <a:pt x="3314700" y="1085453"/>
                </a:lnTo>
                <a:lnTo>
                  <a:pt x="3448050" y="1106362"/>
                </a:lnTo>
                <a:lnTo>
                  <a:pt x="3581400" y="1124003"/>
                </a:lnTo>
                <a:lnTo>
                  <a:pt x="3714750" y="1138885"/>
                </a:lnTo>
                <a:lnTo>
                  <a:pt x="3848100" y="1151441"/>
                </a:lnTo>
                <a:lnTo>
                  <a:pt x="3981450" y="1162035"/>
                </a:lnTo>
                <a:lnTo>
                  <a:pt x="4114800" y="1170971"/>
                </a:lnTo>
                <a:lnTo>
                  <a:pt x="4248150" y="1178511"/>
                </a:lnTo>
                <a:lnTo>
                  <a:pt x="4381500" y="1184872"/>
                </a:lnTo>
                <a:lnTo>
                  <a:pt x="4514850" y="1190239"/>
                </a:lnTo>
                <a:lnTo>
                  <a:pt x="4648200" y="1194767"/>
                </a:lnTo>
                <a:lnTo>
                  <a:pt x="4781550" y="1198586"/>
                </a:lnTo>
                <a:lnTo>
                  <a:pt x="4914900" y="1219200"/>
                </a:lnTo>
              </a:path>
            </a:pathLst>
          </a:custGeom>
          <a:noFill/>
          <a:ln w="50800">
            <a:solidFill>
              <a:srgbClr val="0017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5150" y="2724150"/>
            <a:ext cx="314325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ja-JP">
                <a:solidFill>
                  <a:srgbClr val="0017C1"/>
                </a:solidFill>
                <a:latin typeface="Noto Sans JP"/>
                <a:ea typeface="Noto Sans JP"/>
              </a:rPr>
              <a:t>良い出来事のあと</a:t>
            </a:r>
          </a:p>
        </p:txBody>
      </p:sp>
      <p:sp>
        <p:nvSpPr>
          <p:cNvPr id="13" name="Freeform 12"/>
          <p:cNvSpPr/>
          <p:nvPr/>
        </p:nvSpPr>
        <p:spPr>
          <a:xfrm>
            <a:off x="6667500" y="4267200"/>
            <a:ext cx="3771900" cy="1219200"/>
          </a:xfrm>
          <a:custGeom>
            <a:avLst/>
            <a:gdLst/>
            <a:ahLst/>
            <a:cxnLst/>
            <a:rect l="l" t="t" r="r" b="b"/>
            <a:pathLst>
              <a:path w="3771900" h="1219200">
                <a:moveTo>
                  <a:pt x="0" y="0"/>
                </a:moveTo>
                <a:lnTo>
                  <a:pt x="381000" y="0"/>
                </a:lnTo>
                <a:lnTo>
                  <a:pt x="438150" y="1219200"/>
                </a:lnTo>
                <a:lnTo>
                  <a:pt x="571500" y="1028596"/>
                </a:lnTo>
                <a:lnTo>
                  <a:pt x="704850" y="867790"/>
                </a:lnTo>
                <a:lnTo>
                  <a:pt x="838200" y="732124"/>
                </a:lnTo>
                <a:lnTo>
                  <a:pt x="971550" y="617667"/>
                </a:lnTo>
                <a:lnTo>
                  <a:pt x="1104900" y="521104"/>
                </a:lnTo>
                <a:lnTo>
                  <a:pt x="1238250" y="439637"/>
                </a:lnTo>
                <a:lnTo>
                  <a:pt x="1371600" y="370907"/>
                </a:lnTo>
                <a:lnTo>
                  <a:pt x="1504950" y="312921"/>
                </a:lnTo>
                <a:lnTo>
                  <a:pt x="1638300" y="264000"/>
                </a:lnTo>
                <a:lnTo>
                  <a:pt x="1771650" y="222728"/>
                </a:lnTo>
                <a:lnTo>
                  <a:pt x="1905000" y="187908"/>
                </a:lnTo>
                <a:lnTo>
                  <a:pt x="2038350" y="158531"/>
                </a:lnTo>
                <a:lnTo>
                  <a:pt x="2171700" y="133747"/>
                </a:lnTo>
                <a:lnTo>
                  <a:pt x="2305050" y="112838"/>
                </a:lnTo>
                <a:lnTo>
                  <a:pt x="2438400" y="95197"/>
                </a:lnTo>
                <a:lnTo>
                  <a:pt x="2571750" y="80315"/>
                </a:lnTo>
                <a:lnTo>
                  <a:pt x="2705100" y="67759"/>
                </a:lnTo>
                <a:lnTo>
                  <a:pt x="2838450" y="57165"/>
                </a:lnTo>
                <a:lnTo>
                  <a:pt x="2971800" y="48229"/>
                </a:lnTo>
                <a:lnTo>
                  <a:pt x="3105150" y="40689"/>
                </a:lnTo>
                <a:lnTo>
                  <a:pt x="3238500" y="34328"/>
                </a:lnTo>
                <a:lnTo>
                  <a:pt x="3371850" y="28961"/>
                </a:lnTo>
                <a:lnTo>
                  <a:pt x="3505200" y="24433"/>
                </a:lnTo>
                <a:lnTo>
                  <a:pt x="3638550" y="20614"/>
                </a:lnTo>
                <a:lnTo>
                  <a:pt x="3771900" y="0"/>
                </a:lnTo>
              </a:path>
            </a:pathLst>
          </a:custGeom>
          <a:noFill/>
          <a:ln w="50800">
            <a:solidFill>
              <a:srgbClr val="AC3E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150" y="5429250"/>
            <a:ext cx="314325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ja-JP">
                <a:solidFill>
                  <a:srgbClr val="AC3E00"/>
                </a:solidFill>
                <a:latin typeface="Noto Sans JP"/>
                <a:ea typeface="Noto Sans JP"/>
              </a:rPr>
              <a:t>悪い出来事のあと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57500" y="2781300"/>
            <a:ext cx="0" cy="3048000"/>
          </a:xfrm>
          <a:prstGeom prst="line">
            <a:avLst/>
          </a:prstGeom>
          <a:ln w="19050">
            <a:solidFill>
              <a:srgbClr val="CCCCCC"/>
            </a:solidFill>
            <a:prstDash val="sysDot"/>
          </a:ln>
        </p:spPr>
      </p:cxnSp>
      <p:cxnSp>
        <p:nvCxnSpPr>
          <p:cNvPr id="16" name="Connector 15"/>
          <p:cNvCxnSpPr/>
          <p:nvPr/>
        </p:nvCxnSpPr>
        <p:spPr>
          <a:xfrm>
            <a:off x="7048500" y="2781300"/>
            <a:ext cx="0" cy="3048000"/>
          </a:xfrm>
          <a:prstGeom prst="line">
            <a:avLst/>
          </a:prstGeom>
          <a:ln w="19050">
            <a:solidFill>
              <a:srgbClr val="CCCCCC"/>
            </a:solidFill>
            <a:prstDash val="sysDot"/>
          </a:ln>
        </p:spPr>
      </p:cxnSp>
      <p:sp>
        <p:nvSpPr>
          <p:cNvPr id="17" name="TextBox 16"/>
          <p:cNvSpPr txBox="1"/>
          <p:nvPr/>
        </p:nvSpPr>
        <p:spPr>
          <a:xfrm>
            <a:off x="2476500" y="5867400"/>
            <a:ext cx="11430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ja-JP">
                <a:solidFill>
                  <a:srgbClr val="666666"/>
                </a:solidFill>
                <a:latin typeface="Noto Sans JP"/>
                <a:ea typeface="Noto Sans JP"/>
              </a:rPr>
              <a:t>出来事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5867400"/>
            <a:ext cx="11430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ja-JP">
                <a:solidFill>
                  <a:srgbClr val="666666"/>
                </a:solidFill>
                <a:latin typeface="Noto Sans JP"/>
                <a:ea typeface="Noto Sans JP"/>
              </a:rPr>
              <a:t>出来事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286500"/>
            <a:ext cx="10972800" cy="24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ja-JP">
                <a:solidFill>
                  <a:srgbClr val="666666"/>
                </a:solidFill>
                <a:latin typeface="Noto Sans JP"/>
                <a:ea typeface="Noto Sans JP"/>
              </a:rPr>
              <a:t>hedonic treadmill　模式図。実測値ではない　出典：Brickman &amp; Campbell 1971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宝くじ研究とその修正</a:t>
            </a:r>
          </a:p>
        </p:txBody>
      </p:sp>
      <p:graphicFrame>
        <p:nvGraphicFramePr>
          <p:cNvPr id="4" name="宝くじ研究とその修正" descr="1978年の研究と、のちの修正の比較表"/>
          <p:cNvGraphicFramePr>
            <a:graphicFrameLocks noGrp="1"/>
          </p:cNvGraphicFramePr>
          <p:nvPr/>
        </p:nvGraphicFramePr>
        <p:xfrm>
          <a:off x="609600" y="1676400"/>
          <a:ext cx="1097280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000"/>
                <a:gridCol w="4914900"/>
                <a:gridCol w="491490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/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1978年の研究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のちの修正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</a:tr>
              <a:tr h="15621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研究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Brickman, Coates &amp; Janoff-Bulman。イリノイ州の宝くじの高額当選者を、比較群と比べた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Lindqvist, Östling &amp; Cesarini（2020）。スウェーデンの宝くじ当選者を、当選の5〜22年後に調べ、比較群と比べた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621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結果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当選者の現在の幸福感は、比較群とほとんど変わらなかった。日常の楽しみは、当選者のほうが低かった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大きな賞金の当選者は、人生満足度が比較群より高く、その差は10年以上続いた。幸福感と精神的な健康への効果は、それより小さかった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人生全体の満足度と、いまの気分は、別々に動くように見える。前回の「二つの意味」と重なる分かれ方である。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双生児研究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Lykken &amp; Tellegen（1996）は、数千人規模の中年の双生児について、幸福感の個人差が何と関わるかを調べた。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575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ja-JP">
                <a:solidFill>
                  <a:srgbClr val="1A1A1A"/>
                </a:solidFill>
                <a:latin typeface="Noto Sans JP"/>
                <a:ea typeface="Noto Sans JP"/>
              </a:rPr>
              <a:t>社会経済的地位、学歴、世帯収入、婚姻状況、信仰の合計</a:t>
            </a:r>
          </a:p>
        </p:txBody>
      </p:sp>
      <p:sp>
        <p:nvSpPr>
          <p:cNvPr id="6" name="棒：社会経済的地位、学歴、世帯収入、婚姻状況、信仰の合計"/>
          <p:cNvSpPr/>
          <p:nvPr/>
        </p:nvSpPr>
        <p:spPr>
          <a:xfrm>
            <a:off x="609600" y="3200400"/>
            <a:ext cx="400050" cy="41910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2050" y="3238500"/>
            <a:ext cx="24765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約3%以下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719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ja-JP">
                <a:solidFill>
                  <a:srgbClr val="1A1A1A"/>
                </a:solidFill>
                <a:latin typeface="Noto Sans JP"/>
                <a:ea typeface="Noto Sans JP"/>
              </a:rPr>
              <a:t>遺伝的な差に関わる部分</a:t>
            </a:r>
          </a:p>
        </p:txBody>
      </p:sp>
      <p:sp>
        <p:nvSpPr>
          <p:cNvPr id="9" name="棒：遺伝的な差に関わる部分"/>
          <p:cNvSpPr/>
          <p:nvPr/>
        </p:nvSpPr>
        <p:spPr>
          <a:xfrm>
            <a:off x="609600" y="4114800"/>
            <a:ext cx="5867400" cy="41910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棒（幅）：遺伝的な差に関わる部分"/>
          <p:cNvSpPr/>
          <p:nvPr/>
        </p:nvSpPr>
        <p:spPr>
          <a:xfrm>
            <a:off x="6477000" y="4114800"/>
            <a:ext cx="1066800" cy="419100"/>
          </a:xfrm>
          <a:prstGeom prst="rect">
            <a:avLst/>
          </a:prstGeom>
          <a:solidFill>
            <a:srgbClr val="9DB1F5"/>
          </a:solidFill>
          <a:ln w="12700">
            <a:solidFill>
              <a:srgbClr val="0017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6200" y="4152900"/>
            <a:ext cx="24765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44〜52%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610100"/>
            <a:ext cx="109728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幸福感の個人差（分散）のうち、各要因が関わる割合。薄い部分は、44〜52%という推定値の幅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06603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ja-JP">
                <a:solidFill>
                  <a:srgbClr val="1A1A1A"/>
                </a:solidFill>
                <a:latin typeface="Noto Sans JP"/>
                <a:ea typeface="Noto Sans JP"/>
              </a:rPr>
              <a:t>遺伝率　</a:t>
            </a:r>
            <a:r>
              <a:rPr sz="1800" b="0" lang="ja-JP">
                <a:solidFill>
                  <a:srgbClr val="1A1A1A"/>
                </a:solidFill>
                <a:latin typeface="Noto Sans JP"/>
                <a:ea typeface="Noto Sans JP"/>
              </a:rPr>
              <a:t>集団の個人差のうち、遺伝の差で説明できる割合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519420"/>
            <a:ext cx="109728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4.5年後と10年後に一部の標本で再測定すると、幸福感の安定した部分の遺伝率は約80%に近づいた。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ここまでの結論（暫定）</a:t>
            </a:r>
          </a:p>
        </p:txBody>
      </p:sp>
      <p:graphicFrame>
        <p:nvGraphicFramePr>
          <p:cNvPr id="4" name="ここまでの結論" descr="データごとの暫定の読み"/>
          <p:cNvGraphicFramePr>
            <a:graphicFrameLocks noGrp="1"/>
          </p:cNvGraphicFramePr>
          <p:nvPr/>
        </p:nvGraphicFramePr>
        <p:xfrm>
          <a:off x="609600" y="1676400"/>
          <a:ext cx="1097280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67000"/>
                <a:gridCol w="830580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データ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読み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適応と宝くじ研究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幸福感は、基準に戻りやすい。ただし、人生満足度は、戻りきらない場合がある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双生児研究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幸福感の個人差には、生まれの影響が大きく見える。「親ガチャ」（生まれで決まるという感覚を指す俗語）に傾く読みである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暫定の注意"/>
          <p:cNvSpPr/>
          <p:nvPr/>
        </p:nvSpPr>
        <p:spPr>
          <a:xfrm>
            <a:off x="609600" y="4191000"/>
            <a:ext cx="10972800" cy="1295400"/>
          </a:xfrm>
          <a:prstGeom prst="rect">
            <a:avLst/>
          </a:prstGeom>
          <a:solidFill>
            <a:srgbClr val="FBF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1500"/>
            <a:ext cx="103632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806300"/>
                </a:solidFill>
                <a:latin typeface="Noto Sans JP"/>
                <a:ea typeface="Noto Sans JP"/>
              </a:rPr>
              <a:t>暫定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生まれの影響が見えることと、変えられないことは、別である。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この見直しは、後半で行う。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ソクラテス　幸運を知に置き換える試み</a:t>
            </a:r>
          </a:p>
        </p:txBody>
      </p:sp>
      <p:sp>
        <p:nvSpPr>
          <p:cNvPr id="4" name="生没年の面"/>
          <p:cNvSpPr/>
          <p:nvPr/>
        </p:nvSpPr>
        <p:spPr>
          <a:xfrm>
            <a:off x="7391400" y="1752600"/>
            <a:ext cx="4191000" cy="14478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6200" y="2019300"/>
            <a:ext cx="3581400" cy="764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生没年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ja-JP">
                <a:solidFill>
                  <a:srgbClr val="0017C1"/>
                </a:solidFill>
                <a:latin typeface="Noto Sans JP"/>
                <a:ea typeface="Noto Sans JP"/>
              </a:rPr>
              <a:t>前470頃〜前399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52600"/>
            <a:ext cx="6286500" cy="2343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アテナイの哲学者</a:t>
            </a:r>
          </a:p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著作を残さず、プラトンの対話篇を通して知られる人物</a:t>
            </a:r>
          </a:p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「幸運」を知に置き換える考え方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善いものとは何か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752600"/>
            <a:ext cx="9525000" cy="228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66700" indent="-266700">
              <a:lnSpc>
                <a:spcPts val="3900"/>
              </a:lnSpc>
              <a:spcBef>
                <a:spcPts val="0"/>
              </a:spcBef>
              <a:spcAft>
                <a:spcPts val="2100"/>
              </a:spcAft>
              <a:buClr>
                <a:srgbClr val="0017C1"/>
              </a:buClr>
              <a:buFont typeface="Arial"/>
              <a:buChar char="•"/>
            </a:pPr>
            <a:r>
              <a:rPr sz="2600" b="0" lang="ja-JP">
                <a:solidFill>
                  <a:srgbClr val="1A1A1A"/>
                </a:solidFill>
                <a:latin typeface="Noto Sans JP"/>
                <a:ea typeface="Noto Sans JP"/>
              </a:rPr>
              <a:t>健康、富、権力　多くの人が善いと考えるもの</a:t>
            </a:r>
          </a:p>
          <a:p>
            <a:pPr algn="l" marL="266700" indent="-266700">
              <a:lnSpc>
                <a:spcPts val="3900"/>
              </a:lnSpc>
              <a:spcBef>
                <a:spcPts val="0"/>
              </a:spcBef>
              <a:spcAft>
                <a:spcPts val="2100"/>
              </a:spcAft>
              <a:buClr>
                <a:srgbClr val="0017C1"/>
              </a:buClr>
              <a:buFont typeface="Arial"/>
              <a:buChar char="•"/>
            </a:pPr>
            <a:r>
              <a:rPr sz="2600" b="0" lang="ja-JP">
                <a:solidFill>
                  <a:srgbClr val="1A1A1A"/>
                </a:solidFill>
                <a:latin typeface="Noto Sans JP"/>
                <a:ea typeface="Noto Sans JP"/>
              </a:rPr>
              <a:t>使い方を誤れば、害にもなるもの</a:t>
            </a:r>
          </a:p>
          <a:p>
            <a:pPr algn="l" marL="266700" indent="-266700">
              <a:lnSpc>
                <a:spcPts val="3900"/>
              </a:lnSpc>
              <a:spcBef>
                <a:spcPts val="0"/>
              </a:spcBef>
              <a:spcAft>
                <a:spcPts val="2100"/>
              </a:spcAft>
              <a:buClr>
                <a:srgbClr val="0017C1"/>
              </a:buClr>
              <a:buFont typeface="Arial"/>
              <a:buChar char="•"/>
            </a:pPr>
            <a:r>
              <a:rPr sz="2600" b="0" lang="ja-JP">
                <a:solidFill>
                  <a:srgbClr val="1A1A1A"/>
                </a:solidFill>
                <a:latin typeface="Noto Sans JP"/>
                <a:ea typeface="Noto Sans JP"/>
              </a:rPr>
              <a:t>問い　善いものを正しく使わせるもの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テクスト　プラトン『エウテュデモス』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278e〜282a の議論の要旨。逐語訳ではない。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1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13280"/>
            <a:ext cx="10439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人はみな、うまくやりたい（よく生きたい）と望む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2589530"/>
            <a:ext cx="109728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600" y="26847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84780"/>
            <a:ext cx="10439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そのために、富や健康や権力など、多くの善いものを望む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3161030"/>
            <a:ext cx="109728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09600" y="3256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56280"/>
            <a:ext cx="10439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しかし、善いものがあっても、使い方を知らなければ、益にならない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" y="3732530"/>
            <a:ext cx="109728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09600" y="38277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27780"/>
            <a:ext cx="10439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使い方を決めるのは、知である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" y="4304030"/>
            <a:ext cx="109728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09600" y="4399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99280"/>
            <a:ext cx="104394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したがって、幸運と呼ばれるものは、知にほかならない。知のある人は、行為でも結果でも誤らない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" y="5294630"/>
            <a:ext cx="109728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置き換えの構造</a:t>
            </a:r>
          </a:p>
        </p:txBody>
      </p:sp>
      <p:sp>
        <p:nvSpPr>
          <p:cNvPr id="4" name="幸運の面"/>
          <p:cNvSpPr/>
          <p:nvPr/>
        </p:nvSpPr>
        <p:spPr>
          <a:xfrm>
            <a:off x="609600" y="1981200"/>
            <a:ext cx="4191000" cy="2190750"/>
          </a:xfrm>
          <a:prstGeom prst="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209800"/>
            <a:ext cx="3733800" cy="13677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750"/>
              </a:spcAft>
            </a:pPr>
            <a:r>
              <a:rPr sz="2400" b="1" lang="ja-JP">
                <a:solidFill>
                  <a:srgbClr val="1A1A1A"/>
                </a:solidFill>
                <a:latin typeface="Noto Sans JP"/>
                <a:ea typeface="Noto Sans JP"/>
              </a:rPr>
              <a:t>運に左右される善いもの（外から来る）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健康、富、権力</a:t>
            </a:r>
          </a:p>
        </p:txBody>
      </p:sp>
      <p:sp>
        <p:nvSpPr>
          <p:cNvPr id="6" name="知の面"/>
          <p:cNvSpPr/>
          <p:nvPr/>
        </p:nvSpPr>
        <p:spPr>
          <a:xfrm>
            <a:off x="7391400" y="1981200"/>
            <a:ext cx="4191000" cy="2190750"/>
          </a:xfrm>
          <a:prstGeom prst="rect">
            <a:avLst/>
          </a:prstGeom>
          <a:solidFill>
            <a:srgbClr val="E8F1FE"/>
          </a:solidFill>
          <a:ln w="19050">
            <a:solidFill>
              <a:srgbClr val="0017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0" y="2209800"/>
            <a:ext cx="3733800" cy="941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75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知（自分で育てる）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善いものの使い方を知ること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3000" y="3076575"/>
            <a:ext cx="2286000" cy="0"/>
          </a:xfrm>
          <a:prstGeom prst="line">
            <a:avLst/>
          </a:prstGeom>
          <a:ln w="38100">
            <a:solidFill>
              <a:srgbClr val="0017C1"/>
            </a:solidFill>
            <a:tailEnd type="triangle"/>
          </a:ln>
        </p:spPr>
      </p:cxnSp>
      <p:sp>
        <p:nvSpPr>
          <p:cNvPr id="9" name="TextBox 8"/>
          <p:cNvSpPr txBox="1"/>
          <p:nvPr/>
        </p:nvSpPr>
        <p:spPr>
          <a:xfrm>
            <a:off x="4953000" y="2619375"/>
            <a:ext cx="22860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ja-JP">
                <a:solidFill>
                  <a:srgbClr val="0017C1"/>
                </a:solidFill>
                <a:latin typeface="Noto Sans JP"/>
                <a:ea typeface="Noto Sans JP"/>
              </a:rPr>
              <a:t>置き換える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52950"/>
            <a:ext cx="109728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運に任せていた幸福が、自分の手に移る。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ワーク（1）　置き換えの成否</a:t>
            </a:r>
          </a:p>
        </p:txBody>
      </p:sp>
      <p:sp>
        <p:nvSpPr>
          <p:cNvPr id="4" name="一人での面"/>
          <p:cNvSpPr/>
          <p:nvPr/>
        </p:nvSpPr>
        <p:spPr>
          <a:xfrm>
            <a:off x="609600" y="1676400"/>
            <a:ext cx="2286000" cy="11811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1885950"/>
            <a:ext cx="1905000" cy="759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一人で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3分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76400"/>
            <a:ext cx="8382000" cy="1181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先ほどのプラトン『エウテュデモス』の要旨を読み、置き換えの怪しい点を一つ書く。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914650"/>
            <a:ext cx="83820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8" name="隣の人との面"/>
          <p:cNvSpPr/>
          <p:nvPr/>
        </p:nvSpPr>
        <p:spPr>
          <a:xfrm>
            <a:off x="609600" y="3009900"/>
            <a:ext cx="2286000" cy="11811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219450"/>
            <a:ext cx="1905000" cy="759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隣の人と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3分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09900"/>
            <a:ext cx="8382000" cy="1181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怪しいと思った点を、互いに挙げ合う。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4248150"/>
            <a:ext cx="83820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2" name="Slidoにの面"/>
          <p:cNvSpPr/>
          <p:nvPr/>
        </p:nvSpPr>
        <p:spPr>
          <a:xfrm>
            <a:off x="609600" y="4343400"/>
            <a:ext cx="2286000" cy="11811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4552950"/>
            <a:ext cx="1905000" cy="759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Slidoに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1分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343400"/>
            <a:ext cx="8382000" cy="1181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怪しい点を一言書く。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5581650"/>
            <a:ext cx="83820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残る問い　知があっても壊れるもの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45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知のある人でも、病気や事故、戦争に遭うことがある。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45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前回の最後に残った、プリアモスの問いに戻る。</a:t>
            </a:r>
          </a:p>
        </p:txBody>
      </p:sp>
      <p:sp>
        <p:nvSpPr>
          <p:cNvPr id="5" name="問いの面"/>
          <p:cNvSpPr/>
          <p:nvPr/>
        </p:nvSpPr>
        <p:spPr>
          <a:xfrm>
            <a:off x="609600" y="2857500"/>
            <a:ext cx="10972800" cy="102616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10363200" cy="56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ja-JP">
                <a:solidFill>
                  <a:srgbClr val="0017C1"/>
                </a:solidFill>
                <a:latin typeface="Noto Sans JP"/>
                <a:ea typeface="Noto Sans JP"/>
              </a:rPr>
              <a:t>運の悪さは、幸福をどこまで壊すのか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150360"/>
            <a:ext cx="109728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自分次第のものと、そうでないものを分けたのが、ストア派である。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エピクテトス　自分次第の線引き</a:t>
            </a:r>
          </a:p>
        </p:txBody>
      </p:sp>
      <p:sp>
        <p:nvSpPr>
          <p:cNvPr id="4" name="生没年の面"/>
          <p:cNvSpPr/>
          <p:nvPr/>
        </p:nvSpPr>
        <p:spPr>
          <a:xfrm>
            <a:off x="7391400" y="1752600"/>
            <a:ext cx="4191000" cy="14478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6200" y="2019300"/>
            <a:ext cx="3581400" cy="764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生没年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ja-JP">
                <a:solidFill>
                  <a:srgbClr val="0017C1"/>
                </a:solidFill>
                <a:latin typeface="Noto Sans JP"/>
                <a:ea typeface="Noto Sans JP"/>
              </a:rPr>
              <a:t>後50頃〜135頃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52600"/>
            <a:ext cx="6286500" cy="2343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ローマ帝国のストア派の哲学者</a:t>
            </a:r>
          </a:p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奴隷の身分に生まれ、のちに解放されて教師となった人物</a:t>
            </a:r>
          </a:p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弟子が書き留めた講義録『提要』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『提要』第1節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要旨。逐語訳ではない。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75180"/>
            <a:ext cx="10972800" cy="304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105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ものごとには、</a:t>
            </a: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自分次第のもの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と、</a:t>
            </a: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自分次第でないもの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がある。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105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自分次第のもの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は、判断、衝動、欲求、嫌悪、つまり自分の行いである。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105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自分次第でないもの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は、身体、財産、評判、地位、つまり自分の行いでないものである。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105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自分次第でないもの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を自分のものと思えば、妨げられ、嘆き、乱される。自分のものだけを自分のものと思えば、誰も自分を強制できない。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自分次第の二分法</a:t>
            </a:r>
          </a:p>
        </p:txBody>
      </p:sp>
      <p:sp>
        <p:nvSpPr>
          <p:cNvPr id="4" name="自分次第の面"/>
          <p:cNvSpPr/>
          <p:nvPr/>
        </p:nvSpPr>
        <p:spPr>
          <a:xfrm>
            <a:off x="609600" y="1752600"/>
            <a:ext cx="5181600" cy="3340100"/>
          </a:xfrm>
          <a:prstGeom prst="rect">
            <a:avLst/>
          </a:prstGeom>
          <a:solidFill>
            <a:srgbClr val="E8F1FE"/>
          </a:solidFill>
          <a:ln w="19050">
            <a:solidFill>
              <a:srgbClr val="0017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9300"/>
            <a:ext cx="4572000" cy="280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自分次第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自分の行い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•"/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判断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•"/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衝動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•"/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欲求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•"/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嫌悪</a:t>
            </a:r>
          </a:p>
        </p:txBody>
      </p:sp>
      <p:sp>
        <p:nvSpPr>
          <p:cNvPr id="6" name="自分次第でないの面"/>
          <p:cNvSpPr/>
          <p:nvPr/>
        </p:nvSpPr>
        <p:spPr>
          <a:xfrm>
            <a:off x="6400800" y="1752600"/>
            <a:ext cx="5181600" cy="3340100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600" y="2019300"/>
            <a:ext cx="4572000" cy="280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1A1A1A"/>
                </a:solidFill>
                <a:latin typeface="Noto Sans JP"/>
                <a:ea typeface="Noto Sans JP"/>
              </a:rPr>
              <a:t>自分次第でない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自分の行いでないもの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•"/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身体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•"/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財産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•"/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評判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600"/>
              </a:spcAft>
              <a:buClr>
                <a:srgbClr val="0017C1"/>
              </a:buClr>
              <a:buFont typeface="Arial"/>
              <a:buChar char="•"/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地位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435600"/>
            <a:ext cx="109728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ストア派の答え　幸福は、自分次第のものを整えることに置く。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ストア派の答えと前回の定義</a:t>
            </a:r>
          </a:p>
        </p:txBody>
      </p:sp>
      <p:graphicFrame>
        <p:nvGraphicFramePr>
          <p:cNvPr id="4" name="表" descr="ストア派の答えと前回の定義の表"/>
          <p:cNvGraphicFramePr>
            <a:graphicFrameLocks noGrp="1"/>
          </p:cNvGraphicFramePr>
          <p:nvPr/>
        </p:nvGraphicFramePr>
        <p:xfrm>
          <a:off x="609600" y="1676400"/>
          <a:ext cx="10972800" cy="26289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5000"/>
                <a:gridCol w="3162300"/>
                <a:gridCol w="3162300"/>
                <a:gridCol w="274320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/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前回の定義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ストア派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ソクラテス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幸福とは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価値ある活動を、実際に行えていること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自分次第のものを整えること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知を持つこと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不運のとき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活動の条件が奪われれば、幸福も傷つきうる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自分次第でないものが奪われても、幸福は傷つかない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知があれば、行為でも結果でも誤らない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33900"/>
            <a:ext cx="109728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この置き換えで、不運は本当に避けられるか。答えは、次回に預ける。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ストア派と認知行動療法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認知行動療法の創始者たちは、ストア派に学んだと述べている。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47900"/>
            <a:ext cx="10972800" cy="1771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エリス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合理情動行動療法の原理の多くを、ストア派が先に述べていたとする言明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ベック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認知療法の哲学上の源を、ストア派にさかのぼるとする言明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受け継いだ点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出来事そのものより、その受け取り方を変えるという発想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33850"/>
            <a:ext cx="10972800" cy="49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ja-JP">
                <a:solidFill>
                  <a:srgbClr val="666666"/>
                </a:solidFill>
                <a:latin typeface="Noto Sans JP"/>
                <a:ea typeface="Noto Sans JP"/>
              </a:rPr>
              <a:t>出典：Ellis (1962) Reason and Emotion in Psychotherapy</a:t>
            </a:r>
          </a:p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ja-JP">
                <a:solidFill>
                  <a:srgbClr val="666666"/>
                </a:solidFill>
                <a:latin typeface="Noto Sans JP"/>
                <a:ea typeface="Noto Sans JP"/>
              </a:rPr>
              <a:t>　　　Beck (1976) Cognitive Therapy and the Emotional Disorders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ポジティブ心理学と意図的な活動の割合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5867400" cy="278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105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ポジティブ心理学（Seligman &amp; Csikszentmihalyi, 2000）は、人が栄える条件を研究する分野である。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105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Lyubomirsky, Sheldon &amp; Schkade（2005）は、幸福感の個人差の要因を、三つに分けて示した。</a:t>
            </a:r>
          </a:p>
        </p:txBody>
      </p:sp>
      <p:graphicFrame>
        <p:nvGraphicFramePr>
          <p:cNvPr id="5" name="Chart 4" descr="幸福感の個人差の要因の割合。遺伝が約50%、生活の状況が約10%、意図的な活動が約40%"/>
          <p:cNvGraphicFramePr>
            <a:graphicFrameLocks noGrp="1"/>
          </p:cNvGraphicFramePr>
          <p:nvPr/>
        </p:nvGraphicFramePr>
        <p:xfrm>
          <a:off x="6705600" y="1600200"/>
          <a:ext cx="4876800" cy="40957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05600" y="5753100"/>
            <a:ext cx="4876800" cy="24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ja-JP">
                <a:solidFill>
                  <a:srgbClr val="666666"/>
                </a:solidFill>
                <a:latin typeface="Noto Sans JP"/>
                <a:ea typeface="Noto Sans JP"/>
              </a:rPr>
              <a:t>2005年の論文が示したとされる割合（概算）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ワーク（2）　割合の読み方</a:t>
            </a:r>
          </a:p>
        </p:txBody>
      </p:sp>
      <p:sp>
        <p:nvSpPr>
          <p:cNvPr id="4" name="一人での面"/>
          <p:cNvSpPr/>
          <p:nvPr/>
        </p:nvSpPr>
        <p:spPr>
          <a:xfrm>
            <a:off x="609600" y="1676400"/>
            <a:ext cx="2286000" cy="11811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1885950"/>
            <a:ext cx="1905000" cy="759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一人で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3分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76400"/>
            <a:ext cx="8382000" cy="1181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円グラフの「意図的な活動」の割合が何を指すと読めるか、二通り書く。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914650"/>
            <a:ext cx="83820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8" name="隣の人との面"/>
          <p:cNvSpPr/>
          <p:nvPr/>
        </p:nvSpPr>
        <p:spPr>
          <a:xfrm>
            <a:off x="609600" y="3009900"/>
            <a:ext cx="2286000" cy="11811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219450"/>
            <a:ext cx="1905000" cy="759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隣の人と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3分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09900"/>
            <a:ext cx="8382000" cy="1181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「自分の幸福感のその割合は、自分で変えられる」と読んでよいか。話し合う。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4248150"/>
            <a:ext cx="83820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2" name="Slidoにの面"/>
          <p:cNvSpPr/>
          <p:nvPr/>
        </p:nvSpPr>
        <p:spPr>
          <a:xfrm>
            <a:off x="609600" y="4343400"/>
            <a:ext cx="2286000" cy="11811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4552950"/>
            <a:ext cx="1905000" cy="759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Slidoに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1分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343400"/>
            <a:ext cx="8382000" cy="1181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読んでよい、よくない、のどちらかと、その理由を一言書く。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5581650"/>
            <a:ext cx="838200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割合の読み違い　Brown &amp; Rohrer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割合の意味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集団の個人差の説明割合であり、一人の幸福感の内訳でも、個人に当てはまる数字でもないこと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推定の根拠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割合を分ける推定への、経験的な裏づけの乏しさ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「残りの40%」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測定の誤差を含みうるため、すべてを意図的な活動の分とは言えないこと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加算性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要因が足し合わさるという前提への疑義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遺伝率と変えられなさ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194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105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遺伝率は、集団の個人差のうち、遺伝の差で説明できる割合である。「その人の幸福感のうち、変えられない割合」ではない。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105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例　身長は、遺伝率の高い形質である。それでも、世代を通じて、栄養の改善とともに平均身長は伸びてきた。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33800"/>
            <a:ext cx="109728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身長の例は、一般に知られた事実による</a:t>
            </a:r>
          </a:p>
        </p:txBody>
      </p:sp>
      <p:sp>
        <p:nvSpPr>
          <p:cNvPr id="6" name="結びの面"/>
          <p:cNvSpPr/>
          <p:nvPr/>
        </p:nvSpPr>
        <p:spPr>
          <a:xfrm>
            <a:off x="609600" y="4208780"/>
            <a:ext cx="10972800" cy="12192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99280"/>
            <a:ext cx="103632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前に出した「ここまでの結論（暫定）」を見直す。生まれの影響が見えることと、変えられないことは、別である。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データが支えること、支えないこと</a:t>
            </a:r>
          </a:p>
        </p:txBody>
      </p:sp>
      <p:graphicFrame>
        <p:nvGraphicFramePr>
          <p:cNvPr id="4" name="表" descr="データが支えることと支えないことの表"/>
          <p:cNvGraphicFramePr>
            <a:graphicFrameLocks noGrp="1"/>
          </p:cNvGraphicFramePr>
          <p:nvPr/>
        </p:nvGraphicFramePr>
        <p:xfrm>
          <a:off x="609600" y="1676400"/>
          <a:ext cx="1097280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34000"/>
                <a:gridCol w="563880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支えること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支えないこと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短期の出来事のあと、幸福感は基準に戻りやすい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幸福感は、自分では変えられない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幸福感の個人差には、遺伝に関わる部分が見える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個人の幸福感の40%は、自分で変えられる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191000"/>
            <a:ext cx="109728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データが示すのは、幸福感の動きにくい傾向と、個人差に遺伝が関わることまでである。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105400"/>
            <a:ext cx="109728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幸福（価値ある活動を営むこと）が動かしにくいとまでは言えず、どこまで変えられるかも、このデータだけでは決まらない。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追求のパラドックス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0017C1"/>
                </a:solidFill>
                <a:latin typeface="Noto Sans JP"/>
                <a:ea typeface="Noto Sans JP"/>
              </a:rPr>
              <a:t>Mauss et al.（2011）　幸福を強く価値づけると、どうなるか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17420"/>
            <a:ext cx="10972800" cy="201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研究1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幸福を強く価値づける人は、生活のストレスが低いときに、幸福感が低かった。ストレスが高いときには、この差は見られなかった（女性の参加者）</a:t>
            </a:r>
          </a:p>
          <a:p>
            <a:pPr algn="l" marL="266700" indent="-266700">
              <a:lnSpc>
                <a:spcPts val="3300"/>
              </a:lnSpc>
              <a:spcBef>
                <a:spcPts val="0"/>
              </a:spcBef>
              <a:spcAft>
                <a:spcPts val="1350"/>
              </a:spcAft>
              <a:buClr>
                <a:srgbClr val="0017C1"/>
              </a:buClr>
              <a:buFont typeface="Arial"/>
              <a:buChar char="•"/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研究2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幸福を価値づけるように誘導された参加者は、幸せな気分を誘う刺激への反応が弱かった。その差は、自分の気分への失望が説明した（女性の参加者）</a:t>
            </a:r>
          </a:p>
        </p:txBody>
      </p:sp>
      <p:sp>
        <p:nvSpPr>
          <p:cNvPr id="6" name="結びの面"/>
          <p:cNvSpPr/>
          <p:nvPr/>
        </p:nvSpPr>
        <p:spPr>
          <a:xfrm>
            <a:off x="609600" y="4351020"/>
            <a:ext cx="10972800" cy="12192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41520"/>
            <a:ext cx="103632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幸福を強く求めることは、幸福が手の届くところにあるとき、かえって幸福感を下げうる。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幸福の追求が逆効果になる理由</a:t>
            </a:r>
          </a:p>
        </p:txBody>
      </p:sp>
      <p:sp>
        <p:nvSpPr>
          <p:cNvPr id="4" name="段階1"/>
          <p:cNvSpPr/>
          <p:nvPr/>
        </p:nvSpPr>
        <p:spPr>
          <a:xfrm>
            <a:off x="609600" y="1676400"/>
            <a:ext cx="4953000" cy="647700"/>
          </a:xfrm>
          <a:prstGeom prst="rect">
            <a:avLst/>
          </a:prstGeom>
          <a:solidFill>
            <a:srgbClr val="E8F1FE"/>
          </a:solidFill>
          <a:ln w="19050">
            <a:solidFill>
              <a:srgbClr val="0017C1"/>
            </a:solidFill>
          </a:ln>
        </p:spPr>
        <p:txBody>
          <a:bodyPr rtlCol="0" anchor="ctr" wrap="square" lIns="228600" rIns="228600" tIns="0" bIns="0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ja-JP">
                <a:solidFill>
                  <a:srgbClr val="1A1A1A"/>
                </a:solidFill>
                <a:latin typeface="Noto Sans JP"/>
                <a:ea typeface="Noto Sans JP"/>
              </a:rPr>
              <a:t>幸福を強く価値づける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86100" y="2324100"/>
            <a:ext cx="0" cy="266700"/>
          </a:xfrm>
          <a:prstGeom prst="line">
            <a:avLst/>
          </a:prstGeom>
          <a:ln w="38100">
            <a:solidFill>
              <a:srgbClr val="0017C1"/>
            </a:solidFill>
            <a:tailEnd type="triangle"/>
          </a:ln>
        </p:spPr>
      </p:cxnSp>
      <p:sp>
        <p:nvSpPr>
          <p:cNvPr id="6" name="段階2"/>
          <p:cNvSpPr/>
          <p:nvPr/>
        </p:nvSpPr>
        <p:spPr>
          <a:xfrm>
            <a:off x="609600" y="2590800"/>
            <a:ext cx="4953000" cy="647700"/>
          </a:xfrm>
          <a:prstGeom prst="rect">
            <a:avLst/>
          </a:prstGeom>
          <a:solidFill>
            <a:srgbClr val="E8F1FE"/>
          </a:solidFill>
          <a:ln w="19050">
            <a:solidFill>
              <a:srgbClr val="0017C1"/>
            </a:solidFill>
          </a:ln>
        </p:spPr>
        <p:txBody>
          <a:bodyPr rtlCol="0" anchor="ctr" wrap="square" lIns="228600" rIns="228600" tIns="0" bIns="0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ja-JP">
                <a:solidFill>
                  <a:srgbClr val="1A1A1A"/>
                </a:solidFill>
                <a:latin typeface="Noto Sans JP"/>
                <a:ea typeface="Noto Sans JP"/>
              </a:rPr>
              <a:t>自分の気分への基準が高くなる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86100" y="3238500"/>
            <a:ext cx="0" cy="266700"/>
          </a:xfrm>
          <a:prstGeom prst="line">
            <a:avLst/>
          </a:prstGeom>
          <a:ln w="38100">
            <a:solidFill>
              <a:srgbClr val="0017C1"/>
            </a:solidFill>
            <a:tailEnd type="triangle"/>
          </a:ln>
        </p:spPr>
      </p:cxnSp>
      <p:sp>
        <p:nvSpPr>
          <p:cNvPr id="8" name="段階3"/>
          <p:cNvSpPr/>
          <p:nvPr/>
        </p:nvSpPr>
        <p:spPr>
          <a:xfrm>
            <a:off x="609600" y="3505200"/>
            <a:ext cx="4953000" cy="647700"/>
          </a:xfrm>
          <a:prstGeom prst="rect">
            <a:avLst/>
          </a:prstGeom>
          <a:solidFill>
            <a:srgbClr val="E8F1FE"/>
          </a:solidFill>
          <a:ln w="19050">
            <a:solidFill>
              <a:srgbClr val="0017C1"/>
            </a:solidFill>
          </a:ln>
        </p:spPr>
        <p:txBody>
          <a:bodyPr rtlCol="0" anchor="ctr" wrap="square" lIns="228600" rIns="228600" tIns="0" bIns="0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ja-JP">
                <a:solidFill>
                  <a:srgbClr val="1A1A1A"/>
                </a:solidFill>
                <a:latin typeface="Noto Sans JP"/>
                <a:ea typeface="Noto Sans JP"/>
              </a:rPr>
              <a:t>基準に届かない気分に失望する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4152900"/>
            <a:ext cx="0" cy="266700"/>
          </a:xfrm>
          <a:prstGeom prst="line">
            <a:avLst/>
          </a:prstGeom>
          <a:ln w="38100">
            <a:solidFill>
              <a:srgbClr val="0017C1"/>
            </a:solidFill>
            <a:tailEnd type="triangle"/>
          </a:ln>
        </p:spPr>
      </p:cxnSp>
      <p:sp>
        <p:nvSpPr>
          <p:cNvPr id="10" name="段階4"/>
          <p:cNvSpPr/>
          <p:nvPr/>
        </p:nvSpPr>
        <p:spPr>
          <a:xfrm>
            <a:off x="609600" y="4419600"/>
            <a:ext cx="4953000" cy="647700"/>
          </a:xfrm>
          <a:prstGeom prst="rect">
            <a:avLst/>
          </a:prstGeom>
          <a:solidFill>
            <a:srgbClr val="0017C1"/>
          </a:solidFill>
          <a:ln w="19050">
            <a:solidFill>
              <a:srgbClr val="0017C1"/>
            </a:solidFill>
          </a:ln>
        </p:spPr>
        <p:txBody>
          <a:bodyPr rtlCol="0" anchor="ctr" wrap="square" lIns="228600" rIns="228600" tIns="0" bIns="0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ja-JP">
                <a:solidFill>
                  <a:srgbClr val="FFFFFF"/>
                </a:solidFill>
                <a:latin typeface="Noto Sans JP"/>
                <a:ea typeface="Noto Sans JP"/>
              </a:rPr>
              <a:t>幸福感が下がる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1676400"/>
            <a:ext cx="5486400" cy="1257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前回の例（顔色）にあてはめると、顔色だけを整えても、健康にはならない。徴候を直接追うと、外れやすい。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追求の向き先</a:t>
            </a:r>
          </a:p>
        </p:txBody>
      </p:sp>
      <p:graphicFrame>
        <p:nvGraphicFramePr>
          <p:cNvPr id="4" name="表" descr="追求の向き先の表"/>
          <p:cNvGraphicFramePr>
            <a:graphicFrameLocks noGrp="1"/>
          </p:cNvGraphicFramePr>
          <p:nvPr/>
        </p:nvGraphicFramePr>
        <p:xfrm>
          <a:off x="609600" y="1676400"/>
          <a:ext cx="10972800" cy="2133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/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幸福感を追う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活動を追う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向き先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気分そのもの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自分が価値を認める活動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結果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基準が上がり、失望しやすい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幸福感が、あとから伴う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前回の答えとの関係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徴候を直接追う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前回の「私の答え」に戻る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038600"/>
            <a:ext cx="109728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「あとから伴う」は、前回の定義からの読みであり、この回のデータが示したものではない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仕分け　変えられるもの、変えられないもの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109728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一人で5分。それぞれの項目に、二つの印を付ける。</a:t>
            </a:r>
          </a:p>
        </p:txBody>
      </p:sp>
      <p:graphicFrame>
        <p:nvGraphicFramePr>
          <p:cNvPr id="5" name="仕分け表" descr="項目ごとに、変えられるかと、主に効く先を選ぶ表"/>
          <p:cNvGraphicFramePr>
            <a:graphicFrameLocks noGrp="1"/>
          </p:cNvGraphicFramePr>
          <p:nvPr/>
        </p:nvGraphicFramePr>
        <p:xfrm>
          <a:off x="609600" y="2209800"/>
          <a:ext cx="10972800" cy="3733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67000"/>
                <a:gridCol w="4572000"/>
                <a:gridCol w="373380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項目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自分で変えられるか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主に影響する先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健康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変えられる／変えられない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幸福感／幸福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人間関係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変えられる／変えられない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幸福感／幸福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仕事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変えられる／変えられない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幸福感／幸福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収入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変えられる／変えられない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幸福感／幸福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性格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変えられる／変えられない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幸福感／幸福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生まれた家庭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変えられる／変えられない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幸福感／幸福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057900"/>
            <a:ext cx="109728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幸福＝価値ある活動を営むこと　幸福感＝その活動に伴う徴候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投票</a:t>
            </a:r>
          </a:p>
        </p:txBody>
      </p:sp>
      <p:sp>
        <p:nvSpPr>
          <p:cNvPr id="4" name="問いの面"/>
          <p:cNvSpPr/>
          <p:nvPr/>
        </p:nvSpPr>
        <p:spPr>
          <a:xfrm>
            <a:off x="609600" y="1676400"/>
            <a:ext cx="10972800" cy="102616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05000"/>
            <a:ext cx="10363200" cy="56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ja-JP">
                <a:solidFill>
                  <a:srgbClr val="0017C1"/>
                </a:solidFill>
                <a:latin typeface="Noto Sans JP"/>
                <a:ea typeface="Noto Sans JP"/>
              </a:rPr>
              <a:t>あなたが自分で変えられると思う項目は、どれか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31160"/>
            <a:ext cx="4953000" cy="1771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0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健康</a:t>
            </a:r>
          </a:p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0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人間関係</a:t>
            </a:r>
          </a:p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0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仕事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31160"/>
            <a:ext cx="4953000" cy="1771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0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収入</a:t>
            </a:r>
          </a:p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0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性格</a:t>
            </a:r>
          </a:p>
          <a:p>
            <a:pPr algn="l" marL="266700" indent="-266700">
              <a:lnSpc>
                <a:spcPts val="3600"/>
              </a:lnSpc>
              <a:spcBef>
                <a:spcPts val="0"/>
              </a:spcBef>
              <a:spcAft>
                <a:spcPts val="1050"/>
              </a:spcAft>
              <a:buClr>
                <a:srgbClr val="0017C1"/>
              </a:buClr>
              <a:buFont typeface="Arial"/>
              <a:buChar char="•"/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生まれた家庭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855210"/>
            <a:ext cx="109728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ja-JP">
                <a:solidFill>
                  <a:srgbClr val="666666"/>
                </a:solidFill>
                <a:latin typeface="Noto Sans JP"/>
                <a:ea typeface="Noto Sans JP"/>
              </a:rPr>
              <a:t>Slido で複数選択。結果は Slido の画面に映す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まとめ　変えられるところ、変えられないところ</a:t>
            </a:r>
          </a:p>
        </p:txBody>
      </p:sp>
      <p:graphicFrame>
        <p:nvGraphicFramePr>
          <p:cNvPr id="4" name="表" descr="変えられるところと変えられないところのまとめ表"/>
          <p:cNvGraphicFramePr>
            <a:graphicFrameLocks noGrp="1"/>
          </p:cNvGraphicFramePr>
          <p:nvPr/>
        </p:nvGraphicFramePr>
        <p:xfrm>
          <a:off x="609600" y="1676400"/>
          <a:ext cx="1097280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38500"/>
                <a:gridCol w="3238500"/>
                <a:gridCol w="449580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/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幸福感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幸福（価値ある活動を営むこと）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E8F1FE"/>
                    </a:solidFill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自分で整えられるところ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直接は追わず、活動を整えて、あとから伴わせる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何に価値を認め、どの活動を選ぶか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外から壊されるところ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短期の出来事。生まれの影響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活動を営む条件</a:t>
                      </a:r>
                    </a:p>
                    <a:p>
                      <a:pPr algn="l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lang="ja-JP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</a:rPr>
                        <a:t>（健康、人間関係、仕事など）</a:t>
                      </a:r>
                    </a:p>
                  </a:txBody>
                  <a:tcPr marL="152400" marR="152400" marT="95250" marB="95250" anchor="t">
                    <a:lnL w="9525">
                      <a:solidFill>
                        <a:srgbClr val="666666"/>
                      </a:solidFill>
                    </a:lnL>
                    <a:lnR w="9525">
                      <a:solidFill>
                        <a:srgbClr val="666666"/>
                      </a:solidFill>
                    </a:lnR>
                    <a:lnT w="9525">
                      <a:solidFill>
                        <a:srgbClr val="666666"/>
                      </a:solidFill>
                    </a:lnT>
                    <a:lnB w="9525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191000"/>
            <a:ext cx="109728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1A1A1A"/>
                </a:solidFill>
                <a:latin typeface="Noto Sans JP"/>
                <a:ea typeface="Noto Sans JP"/>
              </a:rPr>
              <a:t>遺伝率は、変えられなさを意味しない。</a:t>
            </a:r>
          </a:p>
        </p:txBody>
      </p:sp>
      <p:sp>
        <p:nvSpPr>
          <p:cNvPr id="6" name="次回の問いの面"/>
          <p:cNvSpPr/>
          <p:nvPr/>
        </p:nvSpPr>
        <p:spPr>
          <a:xfrm>
            <a:off x="609600" y="4800600"/>
            <a:ext cx="10972800" cy="1219200"/>
          </a:xfrm>
          <a:prstGeom prst="rect">
            <a:avLst/>
          </a:prstGeom>
          <a:solidFill>
            <a:srgbClr val="E8F1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91100"/>
            <a:ext cx="103632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ja-JP">
                <a:solidFill>
                  <a:srgbClr val="0017C1"/>
                </a:solidFill>
                <a:latin typeface="Noto Sans JP"/>
                <a:ea typeface="Noto Sans JP"/>
              </a:rPr>
              <a:t>次回の問い　</a:t>
            </a:r>
            <a:r>
              <a:rPr sz="2200" b="0" lang="ja-JP">
                <a:solidFill>
                  <a:srgbClr val="1A1A1A"/>
                </a:solidFill>
                <a:latin typeface="Noto Sans JP"/>
                <a:ea typeface="Noto Sans JP"/>
              </a:rPr>
              <a:t>この回の議論は、ソクラテスとストア派の方向に進んだ。外から壊されるところが残るなら、それで足りるのか。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今日の課題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4572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ja-JP">
                <a:solidFill>
                  <a:srgbClr val="0017C1"/>
                </a:solidFill>
                <a:latin typeface="Noto Sans JP"/>
                <a:ea typeface="Noto Sans JP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76400"/>
            <a:ext cx="10439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今日の仕分けから項目を一つ選び、変えられる理由、または変えられない理由を書く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19400"/>
            <a:ext cx="4572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ja-JP">
                <a:solidFill>
                  <a:srgbClr val="0017C1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19400"/>
            <a:ext cx="10439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ja-JP">
                <a:solidFill>
                  <a:srgbClr val="1A1A1A"/>
                </a:solidFill>
                <a:latin typeface="Noto Sans JP"/>
                <a:ea typeface="Noto Sans JP"/>
              </a:rPr>
              <a:t>前回の三つの条件（①実際に行えているか、②本人が価値を認めているか、③実際に価値があるか）に照らして、自分で整えられる部分を書く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アクセント線"/>
          <p:cNvSpPr/>
          <p:nvPr/>
        </p:nvSpPr>
        <p:spPr>
          <a:xfrm>
            <a:off x="609600" y="342900"/>
            <a:ext cx="609600" cy="57150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見出し"/>
          <p:cNvSpPr txBox="1"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ja-JP">
                <a:solidFill>
                  <a:srgbClr val="1A1A1A"/>
                </a:solidFill>
                <a:latin typeface="Noto Sans JP"/>
                <a:ea typeface="Noto Sans JP"/>
              </a:rPr>
              <a:t>参考文献とデザインの出典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47800"/>
            <a:ext cx="5257800" cy="4565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Seligman, M. E. P., &amp; Csikszentmihalyi, M. (2000). Positive psychology: An introduction. American Psychologist, 55(1), 5–14.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Brickman, P., &amp; Campbell, D. T. (1971). Hedonic relativism and planning the good society. In M. H. Appley (Ed.), Adaptation-level theory. Academic Press.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Brickman, P., Coates, D., &amp; Janoff-Bulman, R. (1978). Lottery winners and accident victims: Is happiness relative? Journal of Personality and Social Psychology, 36(8), 917–927.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Lindqvist, E., Östling, R., &amp; Cesarini, D. (2020). Long-run effects of lottery wealth on psychological well-being. Review of Economic Studies, 87(6), 2703–2726.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Lykken, D., &amp; Tellegen, A. (1996). Happiness is a stochastic phenomenon. Psychological Science, 7(3), 186–189.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Lyubomirsky, S., Sheldon, K. M., &amp; Schkade, D. (2005). Pursuing happiness: The architecture of sustainable change. Review of General Psychology, 9(2), 111–131.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1447800"/>
            <a:ext cx="5257800" cy="412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Brown, N. J. L., &amp; Rohrer, J. M. (2020). Easy as (happiness) pie? A critical evaluation of a popular model of the determinants of well-being. Journal of Happiness Studies, 21(4).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Mauss, I. B., Tamir, M., Anderson, C. L., &amp; Savino, N. S. (2011). Can seeking happiness make people unhappy? Paradoxical effects of valuing happiness. Emotion, 11(4), 807–815.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Diener, E., Emmons, R. A., Larsen, R. J., &amp; Griffin, S. (1985). The Satisfaction With Life Scale. Journal of Personality Assessment, 49(1), 71–75.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Ellis, A. (1962). Reason and emotion in psychotherapy. Lyle Stuart.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Beck, A. T. (1976). Cognitive therapy and the emotional disorders. International Universities Press.</a:t>
            </a:r>
          </a:p>
          <a:p>
            <a:pPr algn="l" marL="171450" indent="-171450">
              <a:lnSpc>
                <a:spcPts val="1750"/>
              </a:lnSpc>
              <a:spcBef>
                <a:spcPts val="0"/>
              </a:spcBef>
              <a:spcAft>
                <a:spcPts val="450"/>
              </a:spcAft>
              <a:buClr>
                <a:srgbClr val="0017C1"/>
              </a:buClr>
              <a:buFont typeface="Arial"/>
              <a:buChar char="•"/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プラトン『エウテュデモス』278e–282a、エピクテトス『提要』第1節・第5節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362700"/>
            <a:ext cx="10972800" cy="231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ja-JP">
                <a:solidFill>
                  <a:srgbClr val="1A1A1A"/>
                </a:solidFill>
                <a:latin typeface="Noto Sans JP"/>
                <a:ea typeface="Noto Sans JP"/>
              </a:rPr>
              <a:t>デザイン：デジタル庁デザインシステムの資料をもとに、スライド用に編集・加工　</a:t>
            </a:r>
            <a:r>
              <a:rPr sz="1400" b="0" lang="ja-JP">
                <a:solidFill>
                  <a:srgbClr val="0017C1"/>
                </a:solidFill>
                <a:latin typeface="Noto Sans JP"/>
                <a:ea typeface="Noto Sans JP"/>
                <a:hlinkClick r:id="rId3"/>
              </a:rPr>
              <a:t>https://design.digital.go.jp/dads/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幸福 第2回　幸福を自分の手に取り戻す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